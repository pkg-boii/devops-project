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rIns="731520" tIns="640080"/>
          <a:lstStyle/>
          <a:p>
            <a:pPr algn="ctr">
              <a:defRPr sz="1400" b="1">
                <a:solidFill>
                  <a:srgbClr val="06B6D4"/>
                </a:solidFill>
                <a:latin typeface="Segoe UI"/>
              </a:defRPr>
            </a:pPr>
            <a:r>
              <a:t>DEVOPS CAPSTONE PROJECT</a:t>
            </a:r>
          </a:p>
          <a:p>
            <a:pPr>
              <a:spcBef>
                <a:spcPts val="1200"/>
              </a:spcBef>
              <a:defRPr sz="3600" b="1">
                <a:solidFill>
                  <a:srgbClr val="F8FAFC"/>
                </a:solidFill>
                <a:latin typeface="Segoe UI"/>
              </a:defRPr>
            </a:pPr>
            <a:r>
              <a:t>PART 0 — FINAL DEMO</a:t>
            </a:r>
          </a:p>
          <a:p>
            <a:pPr>
              <a:spcBef>
                <a:spcPts val="800"/>
              </a:spcBef>
              <a:defRPr sz="1800">
                <a:solidFill>
                  <a:srgbClr val="38BDF8"/>
                </a:solidFill>
                <a:latin typeface="Segoe UI"/>
              </a:defRPr>
            </a:pPr>
            <a:r>
              <a:t>TaskBoard: Cloud-Native Microservices, CI/CD, IaC &amp; Kubernetes Orchestration</a:t>
            </a:r>
          </a:p>
          <a:p>
            <a:pPr>
              <a:spcBef>
                <a:spcPts val="2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Comprehensive 15-Stage Live Verification &amp; Resilience Walkthrough</a:t>
            </a:r>
          </a:p>
          <a:p>
            <a:pPr>
              <a:spcBef>
                <a:spcPts val="1600"/>
              </a:spcBef>
              <a:defRPr sz="1100">
                <a:solidFill>
                  <a:srgbClr val="10B981"/>
                </a:solidFill>
                <a:latin typeface="Consolas"/>
              </a:defRPr>
            </a:pPr>
            <a:r>
              <a:t>FastAPI  •  PostgreSQL  •  GitHub Actions  •  Docker &amp; Trivy  •  GHCR  •  Terraform  •  K8s &amp; Helm  •  HPA  •  Grafana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0728655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 bIns="91440"/>
          <a:lstStyle/>
          <a:p>
            <a:pPr algn="ctr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PART 0 — FINAL DEMO  |  STEP OVERVIEW</a:t>
            </a:r>
          </a:p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End-to-End Demonstration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778240" y="640080"/>
            <a:ext cx="2468880" cy="594360"/>
          </a:xfrm>
          <a:prstGeom prst="roundRect">
            <a:avLst/>
          </a:prstGeom>
          <a:solidFill>
            <a:srgbClr val="0A0F1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15 Verification Points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500" b="1">
                <a:solidFill>
                  <a:srgbClr val="06B6D4"/>
                </a:solidFill>
                <a:latin typeface="Segoe UI"/>
              </a:defRPr>
            </a:pPr>
            <a:r>
              <a:t>Phase 1: App &amp; CI/CD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01. Application: </a:t>
            </a:r>
            <a:r>
              <a:rPr>
                <a:solidFill>
                  <a:srgbClr val="94A3B8"/>
                </a:solidFill>
              </a:rPr>
              <a:t>Interactive TaskBoard UI &amp; Live Task Creation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02. API: </a:t>
            </a:r>
            <a:r>
              <a:rPr>
                <a:solidFill>
                  <a:srgbClr val="94A3B8"/>
                </a:solidFill>
              </a:rPr>
              <a:t>FastAPI Swagger Documentation &amp; CRUD Tests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03. Database: </a:t>
            </a:r>
            <a:r>
              <a:rPr>
                <a:solidFill>
                  <a:srgbClr val="94A3B8"/>
                </a:solidFill>
              </a:rPr>
              <a:t>PostgreSQL tasks Table &amp; Schema Inspection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04. Git Workflow: </a:t>
            </a:r>
            <a:r>
              <a:rPr>
                <a:solidFill>
                  <a:srgbClr val="94A3B8"/>
                </a:solidFill>
              </a:rPr>
              <a:t>Application Feature Change &amp; Commit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05. CI Pipeline: </a:t>
            </a:r>
            <a:r>
              <a:rPr>
                <a:solidFill>
                  <a:srgbClr val="94A3B8"/>
                </a:solidFill>
              </a:rPr>
              <a:t>GitHub Actions Automated Test &amp; Lint Matrix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Phase 2: Cloud &amp; Containers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06. Docker Images: </a:t>
            </a:r>
            <a:r>
              <a:rPr>
                <a:solidFill>
                  <a:srgbClr val="94A3B8"/>
                </a:solidFill>
              </a:rPr>
              <a:t>Multi-stage Frontend &amp; Backend Containerization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07. Security Scan: </a:t>
            </a:r>
            <a:r>
              <a:rPr>
                <a:solidFill>
                  <a:srgbClr val="94A3B8"/>
                </a:solidFill>
              </a:rPr>
              <a:t>DevSecOps Trivy Vulnerability Assessment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08. Image Registry: </a:t>
            </a:r>
            <a:r>
              <a:rPr>
                <a:solidFill>
                  <a:srgbClr val="94A3B8"/>
                </a:solidFill>
              </a:rPr>
              <a:t>GitHub Container Registry (GHCR) Publishing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09. Terraform IaC: </a:t>
            </a:r>
            <a:r>
              <a:rPr>
                <a:solidFill>
                  <a:srgbClr val="94A3B8"/>
                </a:solidFill>
              </a:rPr>
              <a:t>AWS Infrastructure Code (EKS, VPC, RDS)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10. Kubernetes: </a:t>
            </a:r>
            <a:r>
              <a:rPr>
                <a:solidFill>
                  <a:srgbClr val="94A3B8"/>
                </a:solidFill>
              </a:rPr>
              <a:t>Namespace Pods &amp; Services Health Status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500" b="1">
                <a:solidFill>
                  <a:srgbClr val="10B981"/>
                </a:solidFill>
                <a:latin typeface="Segoe UI"/>
              </a:defRPr>
            </a:pPr>
            <a:r>
              <a:t>Phase 3: K8s &amp; Resilience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11. Helm Chart: </a:t>
            </a:r>
            <a:r>
              <a:rPr>
                <a:solidFill>
                  <a:srgbClr val="94A3B8"/>
                </a:solidFill>
              </a:rPr>
              <a:t>Declarative Release Lifecycle &amp; Values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12. Ingress Controller: </a:t>
            </a:r>
            <a:r>
              <a:rPr>
                <a:solidFill>
                  <a:srgbClr val="94A3B8"/>
                </a:solidFill>
              </a:rPr>
              <a:t>Host-based Application Traffic Routing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13. HPA Autoscaling: </a:t>
            </a:r>
            <a:r>
              <a:rPr>
                <a:solidFill>
                  <a:srgbClr val="94A3B8"/>
                </a:solidFill>
              </a:rPr>
              <a:t>Dynamic Metric-based Pod Scaling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14. Observability: </a:t>
            </a:r>
            <a:r>
              <a:rPr>
                <a:solidFill>
                  <a:srgbClr val="94A3B8"/>
                </a:solidFill>
              </a:rPr>
              <a:t>Prometheus Scraping &amp; Grafana Dashboards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15. Live Troubleshooting: </a:t>
            </a:r>
            <a:r>
              <a:rPr>
                <a:solidFill>
                  <a:srgbClr val="94A3B8"/>
                </a:solidFill>
              </a:rPr>
              <a:t>Pod Breakdown &amp; Rollout Remediation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0728655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 bIns="91440"/>
          <a:lstStyle/>
          <a:p>
            <a:pPr algn="ctr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PART 0 — FINAL DEMO  |  STEP 01</a:t>
            </a:r>
          </a:p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Application — Open TaskBoard &amp; Create Task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778240" y="640080"/>
            <a:ext cx="2468880" cy="594360"/>
          </a:xfrm>
          <a:prstGeom prst="roundRect">
            <a:avLst/>
          </a:prstGeom>
          <a:solidFill>
            <a:srgbClr val="0A0F1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Web Client 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Feature Capabilities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Objective: </a:t>
            </a:r>
            <a:r>
              <a:rPr>
                <a:solidFill>
                  <a:srgbClr val="94A3B8"/>
                </a:solidFill>
              </a:rPr>
              <a:t>Verify user-facing portal &amp; frontend-backend connectivity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Portal URL: </a:t>
            </a:r>
            <a:r>
              <a:rPr>
                <a:solidFill>
                  <a:srgbClr val="94A3B8"/>
                </a:solidFill>
              </a:rPr>
              <a:t>http://taskboard.devops.internal (or localhost:3000)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Workflow: </a:t>
            </a:r>
            <a:r>
              <a:rPr>
                <a:solidFill>
                  <a:srgbClr val="94A3B8"/>
                </a:solidFill>
              </a:rPr>
              <a:t>Access modern Kanban interface with To Do, In Progress, and Done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Live Action: </a:t>
            </a:r>
            <a:r>
              <a:rPr>
                <a:solidFill>
                  <a:srgbClr val="94A3B8"/>
                </a:solidFill>
              </a:rPr>
              <a:t>Click '+ New Task' button to trigger creation modal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Input Data: </a:t>
            </a:r>
            <a:r>
              <a:rPr>
                <a:solidFill>
                  <a:srgbClr val="94A3B8"/>
                </a:solidFill>
              </a:rPr>
              <a:t>Title: 'Deploy v1.2 Production Release' | Priority: High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Reactivity: </a:t>
            </a:r>
            <a:r>
              <a:rPr>
                <a:solidFill>
                  <a:srgbClr val="94A3B8"/>
                </a:solidFill>
              </a:rPr>
              <a:t>Instant optimistic UI render and WebSocket/REST synchronization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Persistence: </a:t>
            </a:r>
            <a:r>
              <a:rPr>
                <a:solidFill>
                  <a:srgbClr val="94A3B8"/>
                </a:solidFill>
              </a:rPr>
              <a:t>Task state automatically written to backend database via REST 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645920"/>
            <a:ext cx="5394960" cy="4663440"/>
          </a:xfrm>
          <a:prstGeom prst="roundRect">
            <a:avLst/>
          </a:prstGeom>
          <a:solidFill>
            <a:srgbClr val="0A0F1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 bIns="164592"/>
          <a:lstStyle/>
          <a:p>
            <a:pPr algn="ctr">
              <a:defRPr sz="1100" b="1">
                <a:solidFill>
                  <a:srgbClr val="38BDF8"/>
                </a:solidFill>
                <a:latin typeface="Consolas"/>
              </a:defRPr>
            </a:pPr>
            <a:r>
              <a:t>●  ●  ●   terminal  —  http-traffic-inspector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 b="1">
                <a:solidFill>
                  <a:srgbClr val="10B981"/>
                </a:solidFill>
              </a:rPr>
              <a:t>$ </a:t>
            </a:r>
            <a:r>
              <a:rPr b="1">
                <a:solidFill>
                  <a:srgbClr val="F8FAFC"/>
                </a:solidFill>
              </a:rPr>
              <a:t>curl -s http://taskboard.devops.internal/health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{"status":"healthy","version":"1.2.0","service":"taskboard-ui"}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/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F59E0B"/>
                </a:solidFill>
              </a:rPr>
              <a:t># Task Created via UI Event Handler: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F59E0B"/>
                </a:solidFill>
              </a:rPr>
              <a:t>&gt; POST /api/v1/tasks HTTP/1.1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F59E0B"/>
                </a:solidFill>
              </a:rPr>
              <a:t>&gt; Host: taskboard.devops.internal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F59E0B"/>
                </a:solidFill>
              </a:rPr>
              <a:t>&gt; Content-Type: application/json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F59E0B"/>
                </a:solidFill>
              </a:rPr>
              <a:t>&gt; {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F59E0B"/>
                </a:solidFill>
              </a:rPr>
              <a:t>&gt;   "title": "Deploy v1.2 Production Release",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F59E0B"/>
                </a:solidFill>
              </a:rPr>
              <a:t>&gt;   "description": "Trigger EKS rollout with Helm chart",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F59E0B"/>
                </a:solidFill>
              </a:rPr>
              <a:t>&gt;   "priority": "HIGH",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F59E0B"/>
                </a:solidFill>
              </a:rPr>
              <a:t>&gt;   "status": "TODO"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F59E0B"/>
                </a:solidFill>
              </a:rPr>
              <a:t>&gt; }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10B981"/>
                </a:solidFill>
              </a:rPr>
              <a:t>&lt; HTTP/1.1 201 Created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&lt; Location: /api/v1/tasks/task-9842a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{"id":"task-9842a","created_at":"2026-10-26T18:30:00Z","status":"TODO"}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F59E0B"/>
                </a:solidFill>
              </a:rPr>
              <a:t># UI rendered task-9842a into 'To Do' column successfully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0728655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 bIns="91440"/>
          <a:lstStyle/>
          <a:p>
            <a:pPr algn="ctr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PART 0 — FINAL DEMO  |  STEP 02</a:t>
            </a:r>
          </a:p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API — FastAPI Swagger Documentation &amp; CRUD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778240" y="640080"/>
            <a:ext cx="2468880" cy="594360"/>
          </a:xfrm>
          <a:prstGeom prst="roundRect">
            <a:avLst/>
          </a:prstGeom>
          <a:solidFill>
            <a:srgbClr val="0A0F1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RESTful Backend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FastAPI Endpoints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Swagger URL: </a:t>
            </a:r>
            <a:r>
              <a:rPr>
                <a:solidFill>
                  <a:srgbClr val="94A3B8"/>
                </a:solidFill>
              </a:rPr>
              <a:t>http://taskboard.devops.internal/api/v1/docs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OpenAPI 3.1: </a:t>
            </a:r>
            <a:r>
              <a:rPr>
                <a:solidFill>
                  <a:srgbClr val="94A3B8"/>
                </a:solidFill>
              </a:rPr>
              <a:t>Auto-generated interactive Swagger schema &amp; models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Create (POST): </a:t>
            </a:r>
            <a:r>
              <a:rPr>
                <a:solidFill>
                  <a:srgbClr val="94A3B8"/>
                </a:solidFill>
              </a:rPr>
              <a:t>POST /api/v1/tasks — validates request via Pydantic model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Read (GET): </a:t>
            </a:r>
            <a:r>
              <a:rPr>
                <a:solidFill>
                  <a:srgbClr val="94A3B8"/>
                </a:solidFill>
              </a:rPr>
              <a:t>GET /api/v1/tasks — supports pagination, filter by status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Update (PUT): </a:t>
            </a:r>
            <a:r>
              <a:rPr>
                <a:solidFill>
                  <a:srgbClr val="94A3B8"/>
                </a:solidFill>
              </a:rPr>
              <a:t>PUT /api/v1/tasks/{id} — transitions status to 'IN_PROGRESS'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Delete (DELETE): </a:t>
            </a:r>
            <a:r>
              <a:rPr>
                <a:solidFill>
                  <a:srgbClr val="94A3B8"/>
                </a:solidFill>
              </a:rPr>
              <a:t>DELETE /api/v1/tasks/{id} — safely removes record (204 No Content)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Performance: </a:t>
            </a:r>
            <a:r>
              <a:rPr>
                <a:solidFill>
                  <a:srgbClr val="94A3B8"/>
                </a:solidFill>
              </a:rPr>
              <a:t>Asynchronous endpoints powered by Starlette &amp; AsyncPG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645920"/>
            <a:ext cx="5394960" cy="4663440"/>
          </a:xfrm>
          <a:prstGeom prst="roundRect">
            <a:avLst/>
          </a:prstGeom>
          <a:solidFill>
            <a:srgbClr val="0A0F1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 bIns="164592"/>
          <a:lstStyle/>
          <a:p>
            <a:pPr algn="ctr">
              <a:defRPr sz="1100" b="1">
                <a:solidFill>
                  <a:srgbClr val="38BDF8"/>
                </a:solidFill>
                <a:latin typeface="Consolas"/>
              </a:defRPr>
            </a:pPr>
            <a:r>
              <a:t>●  ●  ●   terminal  —  fastapi-crud-test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 b="1">
                <a:solidFill>
                  <a:srgbClr val="10B981"/>
                </a:solidFill>
              </a:rPr>
              <a:t>$ </a:t>
            </a:r>
            <a:r>
              <a:rPr b="1">
                <a:solidFill>
                  <a:srgbClr val="F8FAFC"/>
                </a:solidFill>
              </a:rPr>
              <a:t># 1. CREATE Task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 b="1">
                <a:solidFill>
                  <a:srgbClr val="10B981"/>
                </a:solidFill>
              </a:rPr>
              <a:t>$ </a:t>
            </a:r>
            <a:r>
              <a:rPr b="1">
                <a:solidFill>
                  <a:srgbClr val="F8FAFC"/>
                </a:solidFill>
              </a:rPr>
              <a:t>curl -X POST "http://localhost:8000/api/v1/tasks" -d '{"title":"Test K8s"}'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10B981"/>
                </a:solidFill>
              </a:rPr>
              <a:t>HTTP/1.1 201 Created -&gt; {"id": 101, "title": "Test K8s", "status": "TODO"}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/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 b="1">
                <a:solidFill>
                  <a:srgbClr val="10B981"/>
                </a:solidFill>
              </a:rPr>
              <a:t>$ </a:t>
            </a:r>
            <a:r>
              <a:rPr b="1">
                <a:solidFill>
                  <a:srgbClr val="F8FAFC"/>
                </a:solidFill>
              </a:rPr>
              <a:t># 2. READ Task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 b="1">
                <a:solidFill>
                  <a:srgbClr val="10B981"/>
                </a:solidFill>
              </a:rPr>
              <a:t>$ </a:t>
            </a:r>
            <a:r>
              <a:rPr b="1">
                <a:solidFill>
                  <a:srgbClr val="F8FAFC"/>
                </a:solidFill>
              </a:rPr>
              <a:t>curl -X GET "http://localhost:8000/api/v1/tasks/101"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10B981"/>
                </a:solidFill>
              </a:rPr>
              <a:t>HTTP/1.1 200 OK -&gt; {"id": 101, "title": "Test K8s", "status": "TODO"}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/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 b="1">
                <a:solidFill>
                  <a:srgbClr val="10B981"/>
                </a:solidFill>
              </a:rPr>
              <a:t>$ </a:t>
            </a:r>
            <a:r>
              <a:rPr b="1">
                <a:solidFill>
                  <a:srgbClr val="F8FAFC"/>
                </a:solidFill>
              </a:rPr>
              <a:t># 3. UPDATE Task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 b="1">
                <a:solidFill>
                  <a:srgbClr val="10B981"/>
                </a:solidFill>
              </a:rPr>
              <a:t>$ </a:t>
            </a:r>
            <a:r>
              <a:rPr b="1">
                <a:solidFill>
                  <a:srgbClr val="F8FAFC"/>
                </a:solidFill>
              </a:rPr>
              <a:t>curl -X PUT "http://localhost:8000/api/v1/tasks/101" -d '{"status":"DONE"}'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10B981"/>
                </a:solidFill>
              </a:rPr>
              <a:t>HTTP/1.1 200 OK -&gt; {"id": 101, "title": "Test K8s", "status": "DONE"}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/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 b="1">
                <a:solidFill>
                  <a:srgbClr val="10B981"/>
                </a:solidFill>
              </a:rPr>
              <a:t>$ </a:t>
            </a:r>
            <a:r>
              <a:rPr b="1">
                <a:solidFill>
                  <a:srgbClr val="F8FAFC"/>
                </a:solidFill>
              </a:rPr>
              <a:t># 4. DELETE Task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 b="1">
                <a:solidFill>
                  <a:srgbClr val="10B981"/>
                </a:solidFill>
              </a:rPr>
              <a:t>$ </a:t>
            </a:r>
            <a:r>
              <a:rPr b="1">
                <a:solidFill>
                  <a:srgbClr val="F8FAFC"/>
                </a:solidFill>
              </a:rPr>
              <a:t>curl -X DELETE "http://localhost:8000/api/v1/tasks/101"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HTTP/1.1 204 No Content -&gt; Task deleted successfully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0728655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 bIns="91440"/>
          <a:lstStyle/>
          <a:p>
            <a:pPr algn="ctr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PART 0 — FINAL DEMO  |  STEP 03</a:t>
            </a:r>
          </a:p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Database — PostgreSQL Schema &amp; Tasks Table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778240" y="640080"/>
            <a:ext cx="2468880" cy="594360"/>
          </a:xfrm>
          <a:prstGeom prst="roundRect">
            <a:avLst/>
          </a:prstGeom>
          <a:solidFill>
            <a:srgbClr val="0A0F1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Persistent Storage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Database Architecture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Database Engine: </a:t>
            </a:r>
            <a:r>
              <a:rPr>
                <a:solidFill>
                  <a:srgbClr val="94A3B8"/>
                </a:solidFill>
              </a:rPr>
              <a:t>PostgreSQL 16 High Availability on Amazon RDS / K8s StatefulSet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Connection URL: </a:t>
            </a:r>
            <a:r>
              <a:rPr>
                <a:solidFill>
                  <a:srgbClr val="94A3B8"/>
                </a:solidFill>
              </a:rPr>
              <a:t>postgresql://taskuser:***@postgres-service:5432/taskboard_db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Table Name: </a:t>
            </a:r>
            <a:r>
              <a:rPr>
                <a:solidFill>
                  <a:srgbClr val="94A3B8"/>
                </a:solidFill>
              </a:rPr>
              <a:t>public.tasks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Schema Constraints: </a:t>
            </a:r>
            <a:r>
              <a:rPr>
                <a:solidFill>
                  <a:srgbClr val="94A3B8"/>
                </a:solidFill>
              </a:rPr>
              <a:t>PRIMARY KEY (id), NOT NULL on title, created_at default NOW()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ORM / Migrations: </a:t>
            </a:r>
            <a:r>
              <a:rPr>
                <a:solidFill>
                  <a:srgbClr val="94A3B8"/>
                </a:solidFill>
              </a:rPr>
              <a:t>SQLAlchemy 2.0 with Alembic versioned schema migrations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Integrity: </a:t>
            </a:r>
            <a:r>
              <a:rPr>
                <a:solidFill>
                  <a:srgbClr val="94A3B8"/>
                </a:solidFill>
              </a:rPr>
              <a:t>ACID transactions with automated daily backup snapshots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645920"/>
            <a:ext cx="5394960" cy="4663440"/>
          </a:xfrm>
          <a:prstGeom prst="roundRect">
            <a:avLst/>
          </a:prstGeom>
          <a:solidFill>
            <a:srgbClr val="0A0F1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 bIns="164592"/>
          <a:lstStyle/>
          <a:p>
            <a:pPr algn="ctr">
              <a:defRPr sz="1100" b="1">
                <a:solidFill>
                  <a:srgbClr val="38BDF8"/>
                </a:solidFill>
                <a:latin typeface="Consolas"/>
              </a:defRPr>
            </a:pPr>
            <a:r>
              <a:t>●  ●  ●   terminal  —  psql-client-session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 b="1">
                <a:solidFill>
                  <a:srgbClr val="10B981"/>
                </a:solidFill>
              </a:rPr>
              <a:t>$ </a:t>
            </a:r>
            <a:r>
              <a:rPr b="1">
                <a:solidFill>
                  <a:srgbClr val="F8FAFC"/>
                </a:solidFill>
              </a:rPr>
              <a:t>psql -U postgres -h postgres-service -d taskboard_db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taskboard_db=# \d tasks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                                  Table 'public.tasks'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   Column    |          Type          | Collation | Nullable |      Default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-------------+------------------------+-----------+----------+--------------------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 id          | integer                |           | not null | nextval('tasks_id')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 title       | character varying(255) |           | not null |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 priority    | character varying(50)  |           | not null | 'MEDIUM'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 status      | character varying(50)  |           | not null | 'TODO'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 created_at  | timestamp with tz      |           | not null | CURRENT_TIMESTAMP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Indexes: 'tasks_pkey' PRIMARY KEY, btree (id)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/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taskboard_db=# SELECT id, title, priority, status FROM tasks LIMIT 2;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 id  |             title              | priority | status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-----+--------------------------------+----------+--------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 101 | Deploy v1.2 Production Release | HIGH     | IN_PROGRESS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 102 | Audit Security Trivy Scan      | CRITICAL | DONE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(2 rows)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0728655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 bIns="91440"/>
          <a:lstStyle/>
          <a:p>
            <a:pPr algn="ctr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PART 0 — FINAL DEMO  |  STEP 04</a:t>
            </a:r>
          </a:p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Git — Application Code Modification &amp; Commit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778240" y="640080"/>
            <a:ext cx="2468880" cy="594360"/>
          </a:xfrm>
          <a:prstGeom prst="roundRect">
            <a:avLst/>
          </a:prstGeom>
          <a:solidFill>
            <a:srgbClr val="0A0F1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Version Control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Developer Workflow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Repository: </a:t>
            </a:r>
            <a:r>
              <a:rPr>
                <a:solidFill>
                  <a:srgbClr val="94A3B8"/>
                </a:solidFill>
              </a:rPr>
              <a:t>github.com/organization/taskboard.git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Branching Model: </a:t>
            </a:r>
            <a:r>
              <a:rPr>
                <a:solidFill>
                  <a:srgbClr val="94A3B8"/>
                </a:solidFill>
              </a:rPr>
              <a:t>Trunk-Based Development with Short-Lived Feature Branches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Live Change: </a:t>
            </a:r>
            <a:r>
              <a:rPr>
                <a:solidFill>
                  <a:srgbClr val="94A3B8"/>
                </a:solidFill>
              </a:rPr>
              <a:t>Modified 'app/api/tasks.py' to add strict task priority enum check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Conventional Commit: </a:t>
            </a:r>
            <a:r>
              <a:rPr>
                <a:solidFill>
                  <a:srgbClr val="94A3B8"/>
                </a:solidFill>
              </a:rPr>
              <a:t>feat(api): add task priority validation filter &amp; test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Code Review: </a:t>
            </a:r>
            <a:r>
              <a:rPr>
                <a:solidFill>
                  <a:srgbClr val="94A3B8"/>
                </a:solidFill>
              </a:rPr>
              <a:t>Pull Request template enforces unit test pass &amp; lint checks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Traceability: </a:t>
            </a:r>
            <a:r>
              <a:rPr>
                <a:solidFill>
                  <a:srgbClr val="94A3B8"/>
                </a:solidFill>
              </a:rPr>
              <a:t>Commit hash links to GitHub Actions pipeline run automatically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645920"/>
            <a:ext cx="5394960" cy="4663440"/>
          </a:xfrm>
          <a:prstGeom prst="roundRect">
            <a:avLst/>
          </a:prstGeom>
          <a:solidFill>
            <a:srgbClr val="0A0F1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 bIns="164592"/>
          <a:lstStyle/>
          <a:p>
            <a:pPr algn="ctr">
              <a:defRPr sz="1100" b="1">
                <a:solidFill>
                  <a:srgbClr val="38BDF8"/>
                </a:solidFill>
                <a:latin typeface="Consolas"/>
              </a:defRPr>
            </a:pPr>
            <a:r>
              <a:t>●  ●  ●   terminal  —  git-bash-session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 b="1">
                <a:solidFill>
                  <a:srgbClr val="10B981"/>
                </a:solidFill>
              </a:rPr>
              <a:t>$ </a:t>
            </a:r>
            <a:r>
              <a:rPr b="1">
                <a:solidFill>
                  <a:srgbClr val="F8FAFC"/>
                </a:solidFill>
              </a:rPr>
              <a:t>git checkout -b feature/task-validation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Switched to a new branch 'feature/task-validation'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/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 b="1">
                <a:solidFill>
                  <a:srgbClr val="10B981"/>
                </a:solidFill>
              </a:rPr>
              <a:t>$ </a:t>
            </a:r>
            <a:r>
              <a:rPr b="1">
                <a:solidFill>
                  <a:srgbClr val="F8FAFC"/>
                </a:solidFill>
              </a:rPr>
              <a:t>git status -s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 M app/api/tasks.py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 M tests/test_tasks.py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/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 b="1">
                <a:solidFill>
                  <a:srgbClr val="10B981"/>
                </a:solidFill>
              </a:rPr>
              <a:t>$ </a:t>
            </a:r>
            <a:r>
              <a:rPr b="1">
                <a:solidFill>
                  <a:srgbClr val="F8FAFC"/>
                </a:solidFill>
              </a:rPr>
              <a:t>git diff app/api/tasks.py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@@ -42,6 +42,8 @@ def create_task(task: TaskCreate):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+    if task.priority not in ['LOW', 'MEDIUM', 'HIGH', 'CRITICAL']: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+        raise HTTPException(status_code=422, detail='Invalid priority')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     return db.save(task)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/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 b="1">
                <a:solidFill>
                  <a:srgbClr val="10B981"/>
                </a:solidFill>
              </a:rPr>
              <a:t>$ </a:t>
            </a:r>
            <a:r>
              <a:rPr b="1">
                <a:solidFill>
                  <a:srgbClr val="F8FAFC"/>
                </a:solidFill>
              </a:rPr>
              <a:t>git add .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 b="1">
                <a:solidFill>
                  <a:srgbClr val="10B981"/>
                </a:solidFill>
              </a:rPr>
              <a:t>$ </a:t>
            </a:r>
            <a:r>
              <a:rPr b="1">
                <a:solidFill>
                  <a:srgbClr val="F8FAFC"/>
                </a:solidFill>
              </a:rPr>
              <a:t>git commit -m "feat(api): add task priority validation filter"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[feature/task-validation 8f2a1b9] feat(api): add task priority validation filter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 2 files changed, 14 insertions(+), 1 deletion(-)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0728655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 bIns="91440"/>
          <a:lstStyle/>
          <a:p>
            <a:pPr algn="ctr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PART 0 — FINAL DEMO  |  STEP 05</a:t>
            </a:r>
          </a:p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CI — GitHub Actions Automated Test &amp; Build Matrix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778240" y="640080"/>
            <a:ext cx="2468880" cy="594360"/>
          </a:xfrm>
          <a:prstGeom prst="roundRect">
            <a:avLst/>
          </a:prstGeom>
          <a:solidFill>
            <a:srgbClr val="0A0F1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Continuous Integration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Pipeline Specifications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Workflow File: </a:t>
            </a:r>
            <a:r>
              <a:rPr>
                <a:solidFill>
                  <a:srgbClr val="94A3B8"/>
                </a:solidFill>
              </a:rPr>
              <a:t>.github/workflows/ci.yaml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Trigger Event: </a:t>
            </a:r>
            <a:r>
              <a:rPr>
                <a:solidFill>
                  <a:srgbClr val="94A3B8"/>
                </a:solidFill>
              </a:rPr>
              <a:t>Push to main / Pull Request to feature branch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Job 1: Linting: </a:t>
            </a:r>
            <a:r>
              <a:rPr>
                <a:solidFill>
                  <a:srgbClr val="94A3B8"/>
                </a:solidFill>
              </a:rPr>
              <a:t>Ruff &amp; Flake8 for PEP8 formatting, MyPy static type check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Job 2: Unit Tests: </a:t>
            </a:r>
            <a:r>
              <a:rPr>
                <a:solidFill>
                  <a:srgbClr val="94A3B8"/>
                </a:solidFill>
              </a:rPr>
              <a:t>Pytest suite running 24 unit &amp; integration tests against DB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Job 3: Security: </a:t>
            </a:r>
            <a:r>
              <a:rPr>
                <a:solidFill>
                  <a:srgbClr val="94A3B8"/>
                </a:solidFill>
              </a:rPr>
              <a:t>Bandit AST security checks &amp; dependency vulnerability review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Execution Time: </a:t>
            </a:r>
            <a:r>
              <a:rPr>
                <a:solidFill>
                  <a:srgbClr val="94A3B8"/>
                </a:solidFill>
              </a:rPr>
              <a:t>Total pipeline run completed in 38 seconds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Gate Rule: </a:t>
            </a:r>
            <a:r>
              <a:rPr>
                <a:solidFill>
                  <a:srgbClr val="94A3B8"/>
                </a:solidFill>
              </a:rPr>
              <a:t>Branch protection rules block merges if any CI step fails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645920"/>
            <a:ext cx="5394960" cy="4663440"/>
          </a:xfrm>
          <a:prstGeom prst="roundRect">
            <a:avLst/>
          </a:prstGeom>
          <a:solidFill>
            <a:srgbClr val="0A0F1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 bIns="164592"/>
          <a:lstStyle/>
          <a:p>
            <a:pPr algn="ctr">
              <a:defRPr sz="1100" b="1">
                <a:solidFill>
                  <a:srgbClr val="38BDF8"/>
                </a:solidFill>
                <a:latin typeface="Consolas"/>
              </a:defRPr>
            </a:pPr>
            <a:r>
              <a:t>●  ●  ●   terminal  —  github-actions-runner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 b="1">
                <a:solidFill>
                  <a:srgbClr val="10B981"/>
                </a:solidFill>
              </a:rPr>
              <a:t>$ </a:t>
            </a:r>
            <a:r>
              <a:rPr b="1">
                <a:solidFill>
                  <a:srgbClr val="F8FAFC"/>
                </a:solidFill>
              </a:rPr>
              <a:t>git push origin feature/task-validation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Enumerating objects: 7, done.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To github.com:organization/taskboard.git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 * [new branch]      feature/task-validation -&gt; feature/task-validation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/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F59E0B"/>
                </a:solidFill>
              </a:rPr>
              <a:t># GitHub Actions Workflow Triggered: [Run #248]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10B981"/>
                </a:solidFill>
              </a:rPr>
              <a:t>&gt; [Step 1] Set up Python 3.12 ............................. [PASS 2.1s]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10B981"/>
                </a:solidFill>
              </a:rPr>
              <a:t>&gt; [Step 2] Install dependencies (poetry/pip) ............. [PASS 6.4s]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10B981"/>
                </a:solidFill>
              </a:rPr>
              <a:t>&gt; [Step 3] Run Linters (flake8, black, ruff) ............. [PASS 3.2s]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10B981"/>
                </a:solidFill>
              </a:rPr>
              <a:t>&gt; [Step 4] Run Pytest Unit Tests .......................... [PASS 8.9s]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  collected 24 items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  tests/test_api.py .................. [100%]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  24 passed, 0 warnings in 1.48s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10B981"/>
                </a:solidFill>
              </a:rPr>
              <a:t>&gt; [Step 5] Build Docker images (dry-run) ................. [PASS 14.1s]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Status: CI PIPELINE COMPLETED SUCCESSFULLY (All 5 checks green)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0728655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 bIns="91440"/>
          <a:lstStyle/>
          <a:p>
            <a:pPr algn="ctr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PART 0 — FINAL DEMO  |  STEP 06</a:t>
            </a:r>
          </a:p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Docker — Multi-Stage Builds &amp; Dual Container Images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778240" y="640080"/>
            <a:ext cx="2468880" cy="594360"/>
          </a:xfrm>
          <a:prstGeom prst="roundRect">
            <a:avLst/>
          </a:prstGeom>
          <a:solidFill>
            <a:srgbClr val="0A0F1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Containerization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Container Architecture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Images Built: </a:t>
            </a:r>
            <a:r>
              <a:rPr>
                <a:solidFill>
                  <a:srgbClr val="94A3B8"/>
                </a:solidFill>
              </a:rPr>
              <a:t>Frontend (React + Nginx) &amp; Backend (FastAPI + Uvicorn)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Multi-Stage Strategy: </a:t>
            </a:r>
            <a:r>
              <a:rPr>
                <a:solidFill>
                  <a:srgbClr val="94A3B8"/>
                </a:solidFill>
              </a:rPr>
              <a:t>Builder stage with compiler, final stage with distroless/alpine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Backend Size: </a:t>
            </a:r>
            <a:r>
              <a:rPr>
                <a:solidFill>
                  <a:srgbClr val="94A3B8"/>
                </a:solidFill>
              </a:rPr>
              <a:t>Optimized from 1.1 GB (full SDK) down to 98 MB (distroless)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Frontend Size: </a:t>
            </a:r>
            <a:r>
              <a:rPr>
                <a:solidFill>
                  <a:srgbClr val="94A3B8"/>
                </a:solidFill>
              </a:rPr>
              <a:t>Optimized to 24 MB with unprivileged Nginx static server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Security Hardening: </a:t>
            </a:r>
            <a:r>
              <a:rPr>
                <a:solidFill>
                  <a:srgbClr val="94A3B8"/>
                </a:solidFill>
              </a:rPr>
              <a:t>Non-root execution (UID 10001), read-only root filesystem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Deterministic: </a:t>
            </a:r>
            <a:r>
              <a:rPr>
                <a:solidFill>
                  <a:srgbClr val="94A3B8"/>
                </a:solidFill>
              </a:rPr>
              <a:t>Pinned base image hashes (e.g. python:3.12-slim@sha256:...)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645920"/>
            <a:ext cx="5394960" cy="4663440"/>
          </a:xfrm>
          <a:prstGeom prst="roundRect">
            <a:avLst/>
          </a:prstGeom>
          <a:solidFill>
            <a:srgbClr val="0A0F1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 bIns="164592"/>
          <a:lstStyle/>
          <a:p>
            <a:pPr algn="ctr">
              <a:defRPr sz="1100" b="1">
                <a:solidFill>
                  <a:srgbClr val="38BDF8"/>
                </a:solidFill>
                <a:latin typeface="Consolas"/>
              </a:defRPr>
            </a:pPr>
            <a:r>
              <a:t>●  ●  ●   terminal  —  docker-cli-inspector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 b="1">
                <a:solidFill>
                  <a:srgbClr val="10B981"/>
                </a:solidFill>
              </a:rPr>
              <a:t>$ </a:t>
            </a:r>
            <a:r>
              <a:rPr b="1">
                <a:solidFill>
                  <a:srgbClr val="F8FAFC"/>
                </a:solidFill>
              </a:rPr>
              <a:t>docker images | grep taskboard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REPOSITORY                       TAG      IMAGE ID       CREATED        SIZE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ghcr.io/taskboard/backend        v1.2.0   a81c7e9420b1   12 mins ago    98.4MB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ghcr.io/taskboard/frontend       v1.2.0   b49d0317e5a8   15 mins ago    24.1MB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/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 b="1">
                <a:solidFill>
                  <a:srgbClr val="10B981"/>
                </a:solidFill>
              </a:rPr>
              <a:t>$ </a:t>
            </a:r>
            <a:r>
              <a:rPr b="1">
                <a:solidFill>
                  <a:srgbClr val="F8FAFC"/>
                </a:solidFill>
              </a:rPr>
              <a:t>docker inspect --format='{{.Config.User}}' ghcr.io/taskboard/backend:v1.2.0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10001:10001  (Non-root unprivileged service account)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/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 b="1">
                <a:solidFill>
                  <a:srgbClr val="10B981"/>
                </a:solidFill>
              </a:rPr>
              <a:t>$ </a:t>
            </a:r>
            <a:r>
              <a:rPr b="1">
                <a:solidFill>
                  <a:srgbClr val="F8FAFC"/>
                </a:solidFill>
              </a:rPr>
              <a:t>docker run --rm ghcr.io/taskboard/backend:v1.2.0 python --version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Python 3.12.7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/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F59E0B"/>
                </a:solidFill>
              </a:rPr>
              <a:t># Docker healthcheck verification: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 b="1">
                <a:solidFill>
                  <a:srgbClr val="10B981"/>
                </a:solidFill>
              </a:rPr>
              <a:t>$ </a:t>
            </a:r>
            <a:r>
              <a:rPr b="1">
                <a:solidFill>
                  <a:srgbClr val="F8FAFC"/>
                </a:solidFill>
              </a:rPr>
              <a:t>docker inspect --format='{{.State.Health.Status}}' taskboard-backend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healthy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0728655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 bIns="91440"/>
          <a:lstStyle/>
          <a:p>
            <a:pPr algn="ctr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PART 0 — FINAL DEMO  |  STEP 07</a:t>
            </a:r>
          </a:p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Security — Trivy Container Image Vulnerability Scan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778240" y="640080"/>
            <a:ext cx="2468880" cy="594360"/>
          </a:xfrm>
          <a:prstGeom prst="roundRect">
            <a:avLst/>
          </a:prstGeom>
          <a:solidFill>
            <a:srgbClr val="0A0F1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DevSecOps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Vulnerability Management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Scanner Tool: </a:t>
            </a:r>
            <a:r>
              <a:rPr>
                <a:solidFill>
                  <a:srgbClr val="94A3B8"/>
                </a:solidFill>
              </a:rPr>
              <a:t>Aqua Security Trivy (Container &amp; SBOM Scanner)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Scan Target: </a:t>
            </a:r>
            <a:r>
              <a:rPr>
                <a:solidFill>
                  <a:srgbClr val="94A3B8"/>
                </a:solidFill>
              </a:rPr>
              <a:t>ghcr.io/taskboard/backend:v1.2.0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Severity Checked: </a:t>
            </a:r>
            <a:r>
              <a:rPr>
                <a:solidFill>
                  <a:srgbClr val="94A3B8"/>
                </a:solidFill>
              </a:rPr>
              <a:t>UNKNOWN, LOW, MEDIUM, HIGH, CRITICAL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Policy Gate: </a:t>
            </a:r>
            <a:r>
              <a:rPr>
                <a:solidFill>
                  <a:srgbClr val="94A3B8"/>
                </a:solidFill>
              </a:rPr>
              <a:t>Fail CI build if CRITICAL CVEs &gt; 0 or HIGH CVEs &gt; 2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Result: </a:t>
            </a:r>
            <a:r>
              <a:rPr>
                <a:solidFill>
                  <a:srgbClr val="94A3B8"/>
                </a:solidFill>
              </a:rPr>
              <a:t>0 CRITICAL, 0 HIGH vulnerabilities detected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Remediation: </a:t>
            </a:r>
            <a:r>
              <a:rPr>
                <a:solidFill>
                  <a:srgbClr val="94A3B8"/>
                </a:solidFill>
              </a:rPr>
              <a:t>Base image minimal footprint removes unnecessary OS packages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645920"/>
            <a:ext cx="5394960" cy="4663440"/>
          </a:xfrm>
          <a:prstGeom prst="roundRect">
            <a:avLst/>
          </a:prstGeom>
          <a:solidFill>
            <a:srgbClr val="0A0F1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 bIns="164592"/>
          <a:lstStyle/>
          <a:p>
            <a:pPr algn="ctr">
              <a:defRPr sz="1100" b="1">
                <a:solidFill>
                  <a:srgbClr val="38BDF8"/>
                </a:solidFill>
                <a:latin typeface="Consolas"/>
              </a:defRPr>
            </a:pPr>
            <a:r>
              <a:t>●  ●  ●   terminal  —  trivy-security-scanner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 b="1">
                <a:solidFill>
                  <a:srgbClr val="10B981"/>
                </a:solidFill>
              </a:rPr>
              <a:t>$ </a:t>
            </a:r>
            <a:r>
              <a:rPr b="1">
                <a:solidFill>
                  <a:srgbClr val="F8FAFC"/>
                </a:solidFill>
              </a:rPr>
              <a:t>trivy image --severity HIGH,CRITICAL ghcr.io/taskboard/backend:v1.2.0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2026-10-26T18:40:12Z INFO Need to update DB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2026-10-26T18:40:15Z INFO Vulnerability DB updated successfully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/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Target: ghcr.io/taskboard/backend:v1.2.0 (debian 12.7)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=====================================================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Total: 0 (HIGH: 0, CRITICAL: 0)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/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Target: Python (requirements.txt / poetry.lock)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=====================================================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Total: 0 (HIGH: 0, CRITICAL: 0)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/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10B981"/>
                </a:solidFill>
              </a:rPr>
              <a:t>Status: VULNERABILITY SCAN PASSED — No blocking CVEs found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F59E0B"/>
                </a:solidFill>
              </a:rPr>
              <a:t># Artifact signed with Cosign and approved for production registry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0728655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 bIns="91440"/>
          <a:lstStyle/>
          <a:p>
            <a:pPr algn="ctr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PART 0 — FINAL DEMO  |  STEP 08</a:t>
            </a:r>
          </a:p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Registry — GitHub Container Registry (GHCR)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778240" y="640080"/>
            <a:ext cx="2468880" cy="594360"/>
          </a:xfrm>
          <a:prstGeom prst="roundRect">
            <a:avLst/>
          </a:prstGeom>
          <a:solidFill>
            <a:srgbClr val="0A0F1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Artifact Distribution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Enterprise Artifacts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Registry Host: </a:t>
            </a:r>
            <a:r>
              <a:rPr>
                <a:solidFill>
                  <a:srgbClr val="94A3B8"/>
                </a:solidFill>
              </a:rPr>
              <a:t>ghcr.io (GitHub Packages Container Registry)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Dual Packages: </a:t>
            </a:r>
            <a:r>
              <a:rPr>
                <a:solidFill>
                  <a:srgbClr val="94A3B8"/>
                </a:solidFill>
              </a:rPr>
              <a:t>ghcr.io/taskboard/backend &amp; ghcr.io/taskboard/frontend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Tagging Scheme: </a:t>
            </a:r>
            <a:r>
              <a:rPr>
                <a:solidFill>
                  <a:srgbClr val="94A3B8"/>
                </a:solidFill>
              </a:rPr>
              <a:t>Semantic tags ('v1.2.0', 'latest') &amp; Git commit SHA ('sha-8f2a1b9')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Access Control: </a:t>
            </a:r>
            <a:r>
              <a:rPr>
                <a:solidFill>
                  <a:srgbClr val="94A3B8"/>
                </a:solidFill>
              </a:rPr>
              <a:t>Fine-grained Personal Access Tokens (PAT) &amp; OIDC for K8s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Integration: </a:t>
            </a:r>
            <a:r>
              <a:rPr>
                <a:solidFill>
                  <a:srgbClr val="94A3B8"/>
                </a:solidFill>
              </a:rPr>
              <a:t>Kubernetes ImagePullSecret configured in namespace `taskboard`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Audit Logs: </a:t>
            </a:r>
            <a:r>
              <a:rPr>
                <a:solidFill>
                  <a:srgbClr val="94A3B8"/>
                </a:solidFill>
              </a:rPr>
              <a:t>Automated pull telemetry &amp; image layer deduplication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645920"/>
            <a:ext cx="5394960" cy="4663440"/>
          </a:xfrm>
          <a:prstGeom prst="roundRect">
            <a:avLst/>
          </a:prstGeom>
          <a:solidFill>
            <a:srgbClr val="0A0F1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 bIns="164592"/>
          <a:lstStyle/>
          <a:p>
            <a:pPr algn="ctr">
              <a:defRPr sz="1100" b="1">
                <a:solidFill>
                  <a:srgbClr val="38BDF8"/>
                </a:solidFill>
                <a:latin typeface="Consolas"/>
              </a:defRPr>
            </a:pPr>
            <a:r>
              <a:t>●  ●  ●   terminal  —  ghcr-publish-log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 b="1">
                <a:solidFill>
                  <a:srgbClr val="10B981"/>
                </a:solidFill>
              </a:rPr>
              <a:t>$ </a:t>
            </a:r>
            <a:r>
              <a:rPr b="1">
                <a:solidFill>
                  <a:srgbClr val="F8FAFC"/>
                </a:solidFill>
              </a:rPr>
              <a:t>docker push ghcr.io/taskboard/backend:v1.2.0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The push refers to repository [ghcr.io/taskboard/backend]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3d4f58c71b2a: Pushed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9b2e1a473f6c: Layer already exists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v1.2.0: digest: sha256:7f3a8b2c9d1e... size: 1420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/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 b="1">
                <a:solidFill>
                  <a:srgbClr val="10B981"/>
                </a:solidFill>
              </a:rPr>
              <a:t>$ </a:t>
            </a:r>
            <a:r>
              <a:rPr b="1">
                <a:solidFill>
                  <a:srgbClr val="F8FAFC"/>
                </a:solidFill>
              </a:rPr>
              <a:t>docker push ghcr.io/taskboard/frontend:v1.2.0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v1.2.0: digest: sha256:4c1e9b2a7d3f... size: 842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/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 b="1">
                <a:solidFill>
                  <a:srgbClr val="10B981"/>
                </a:solidFill>
              </a:rPr>
              <a:t>$ </a:t>
            </a:r>
            <a:r>
              <a:rPr b="1">
                <a:solidFill>
                  <a:srgbClr val="F8FAFC"/>
                </a:solidFill>
              </a:rPr>
              <a:t>crane ls ghcr.io/taskboard/backend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v1.0.0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v1.1.0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v1.2.0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latest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F59E0B"/>
                </a:solidFill>
              </a:rPr>
              <a:t># Verification: Packages published and verified on GHCR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0728655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 bIns="91440"/>
          <a:lstStyle/>
          <a:p>
            <a:pPr algn="ctr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PART 0 — FINAL DEMO  |  STEP 09</a:t>
            </a:r>
          </a:p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Terraform — AWS Infrastructure as Code (IaC)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778240" y="640080"/>
            <a:ext cx="2468880" cy="594360"/>
          </a:xfrm>
          <a:prstGeom prst="roundRect">
            <a:avLst/>
          </a:prstGeom>
          <a:solidFill>
            <a:srgbClr val="0A0F1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Cloud Provisioning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AWS Architecture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IaC Directory: </a:t>
            </a:r>
            <a:r>
              <a:rPr>
                <a:solidFill>
                  <a:srgbClr val="94A3B8"/>
                </a:solidFill>
              </a:rPr>
              <a:t>infra/terraform/ (modular infrastructure)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EKS Cluster: </a:t>
            </a:r>
            <a:r>
              <a:rPr>
                <a:solidFill>
                  <a:srgbClr val="94A3B8"/>
                </a:solidFill>
              </a:rPr>
              <a:t>AWS EKS 1.29 cluster ('taskboard-prod-eks') with 3 m5.large nodes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VPC Networking: </a:t>
            </a:r>
            <a:r>
              <a:rPr>
                <a:solidFill>
                  <a:srgbClr val="94A3B8"/>
                </a:solidFill>
              </a:rPr>
              <a:t>3 Public subnets, 3 Private subnets across 3 Availability Zones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RDS Database: </a:t>
            </a:r>
            <a:r>
              <a:rPr>
                <a:solidFill>
                  <a:srgbClr val="94A3B8"/>
                </a:solidFill>
              </a:rPr>
              <a:t>PostgreSQL 16 multi-AZ instance in isolated DB subnet group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State Locking: </a:t>
            </a:r>
            <a:r>
              <a:rPr>
                <a:solidFill>
                  <a:srgbClr val="94A3B8"/>
                </a:solidFill>
              </a:rPr>
              <a:t>Terraform remote state in AWS S3 with DynamoDB table lock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Security Groups: </a:t>
            </a:r>
            <a:r>
              <a:rPr>
                <a:solidFill>
                  <a:srgbClr val="94A3B8"/>
                </a:solidFill>
              </a:rPr>
              <a:t>Strict least-privilege ingress rules between ALB, EKS, and 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645920"/>
            <a:ext cx="5394960" cy="4663440"/>
          </a:xfrm>
          <a:prstGeom prst="roundRect">
            <a:avLst/>
          </a:prstGeom>
          <a:solidFill>
            <a:srgbClr val="0A0F1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 bIns="164592"/>
          <a:lstStyle/>
          <a:p>
            <a:pPr algn="ctr">
              <a:defRPr sz="1100" b="1">
                <a:solidFill>
                  <a:srgbClr val="38BDF8"/>
                </a:solidFill>
                <a:latin typeface="Consolas"/>
              </a:defRPr>
            </a:pPr>
            <a:r>
              <a:t>●  ●  ●   terminal  —  terraform-plan-output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 b="1">
                <a:solidFill>
                  <a:srgbClr val="10B981"/>
                </a:solidFill>
              </a:rPr>
              <a:t>$ </a:t>
            </a:r>
            <a:r>
              <a:rPr b="1">
                <a:solidFill>
                  <a:srgbClr val="F8FAFC"/>
                </a:solidFill>
              </a:rPr>
              <a:t>terraform -chdir=infra/terraform plan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Acquiring state lock from DynamoDB 'tf-lock-table'...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Refreshing state... [id=taskboard-prod-eks]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/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Terraform will perform the following actions: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  # module.eks.aws_eks_cluster.main will be updated in-place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  # module.vpc.aws_subnet.private[0] created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  # module.rds.aws_db_instance.postgres created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/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Plan: 18 to add, 1 to change, 0 to destroy.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/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 b="1">
                <a:solidFill>
                  <a:srgbClr val="10B981"/>
                </a:solidFill>
              </a:rPr>
              <a:t>$ </a:t>
            </a:r>
            <a:r>
              <a:rPr b="1">
                <a:solidFill>
                  <a:srgbClr val="F8FAFC"/>
                </a:solidFill>
              </a:rPr>
              <a:t>terraform -chdir=infra/terraform output -json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{ "eks_cluster_name": "taskboard-prod-eks",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  "rds_endpoint": "taskboard-db.c123.us-east-1.rds.amazonaws.com",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  "vpc_id": "vpc-0a8b4c2d1e" 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0728655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 bIns="91440"/>
          <a:lstStyle/>
          <a:p>
            <a:pPr algn="ctr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PART 0 — FINAL DEMO  |  STEP 10</a:t>
            </a:r>
          </a:p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Kubernetes — Cluster Workloads &amp; Networking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778240" y="640080"/>
            <a:ext cx="2468880" cy="594360"/>
          </a:xfrm>
          <a:prstGeom prst="roundRect">
            <a:avLst/>
          </a:prstGeom>
          <a:solidFill>
            <a:srgbClr val="0A0F1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Orchestration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Cluster Architecture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Namespace: </a:t>
            </a:r>
            <a:r>
              <a:rPr>
                <a:solidFill>
                  <a:srgbClr val="94A3B8"/>
                </a:solidFill>
              </a:rPr>
              <a:t>taskboard (dedicated multi-tenant boundary)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Deployments: </a:t>
            </a:r>
            <a:r>
              <a:rPr>
                <a:solidFill>
                  <a:srgbClr val="94A3B8"/>
                </a:solidFill>
              </a:rPr>
              <a:t>taskboard-backend (2 replicas), taskboard-frontend (2 replicas)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StatefulSet: </a:t>
            </a:r>
            <a:r>
              <a:rPr>
                <a:solidFill>
                  <a:srgbClr val="94A3B8"/>
                </a:solidFill>
              </a:rPr>
              <a:t>postgres-0 with PersistentVolumeClaim for storage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Networking: </a:t>
            </a:r>
            <a:r>
              <a:rPr>
                <a:solidFill>
                  <a:srgbClr val="94A3B8"/>
                </a:solidFill>
              </a:rPr>
              <a:t>ClusterIP services for inter-pod RPC, Ingress for edge traffic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Health Probes: </a:t>
            </a:r>
            <a:r>
              <a:rPr>
                <a:solidFill>
                  <a:srgbClr val="94A3B8"/>
                </a:solidFill>
              </a:rPr>
              <a:t>Liveness probe: /health | Readiness probe: /ready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Resource Quotas: </a:t>
            </a:r>
            <a:r>
              <a:rPr>
                <a:solidFill>
                  <a:srgbClr val="94A3B8"/>
                </a:solidFill>
              </a:rPr>
              <a:t>Guaranteed requests (250m CPU, 256Mi RAM) and limits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645920"/>
            <a:ext cx="5394960" cy="4663440"/>
          </a:xfrm>
          <a:prstGeom prst="roundRect">
            <a:avLst/>
          </a:prstGeom>
          <a:solidFill>
            <a:srgbClr val="0A0F1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 bIns="164592"/>
          <a:lstStyle/>
          <a:p>
            <a:pPr algn="ctr">
              <a:defRPr sz="1100" b="1">
                <a:solidFill>
                  <a:srgbClr val="38BDF8"/>
                </a:solidFill>
                <a:latin typeface="Consolas"/>
              </a:defRPr>
            </a:pPr>
            <a:r>
              <a:t>●  ●  ●   terminal  —  kubectl-get-resources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 b="1">
                <a:solidFill>
                  <a:srgbClr val="10B981"/>
                </a:solidFill>
              </a:rPr>
              <a:t>$ </a:t>
            </a:r>
            <a:r>
              <a:rPr b="1">
                <a:solidFill>
                  <a:srgbClr val="F8FAFC"/>
                </a:solidFill>
              </a:rPr>
              <a:t>kubectl get pods -n taskboard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NAME                                  READY   STATUS    RESTARTS   AGE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10B981"/>
                </a:solidFill>
              </a:rPr>
              <a:t>taskboard-backend-78d4c6b75f-2x89k    1/1     Running   0          42m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10B981"/>
                </a:solidFill>
              </a:rPr>
              <a:t>taskboard-backend-78d4c6b75f-w9m1l    1/1     Running   0          42m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10B981"/>
                </a:solidFill>
              </a:rPr>
              <a:t>taskboard-frontend-54bf76899b-4k2pj   1/1     Running   0          42m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10B981"/>
                </a:solidFill>
              </a:rPr>
              <a:t>taskboard-frontend-54bf76899b-9x3la   1/1     Running   0          42m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10B981"/>
                </a:solidFill>
              </a:rPr>
              <a:t>postgres-0                            1/1     Running   0          2d4h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/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 b="1">
                <a:solidFill>
                  <a:srgbClr val="10B981"/>
                </a:solidFill>
              </a:rPr>
              <a:t>$ </a:t>
            </a:r>
            <a:r>
              <a:rPr b="1">
                <a:solidFill>
                  <a:srgbClr val="F8FAFC"/>
                </a:solidFill>
              </a:rPr>
              <a:t>kubectl get svc -n taskboard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NAME                 TYPE        CLUSTER-IP       EXTERNAL-IP   PORT(S)    AGE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taskboard-backend    ClusterIP   10.100.42.110    &lt;none&gt;        8000/TCP   42m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taskboard-frontend   ClusterIP   10.100.85.201    &lt;none&gt;        80/TCP     42m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postgres             ClusterIP   10.100.12.55     &lt;none&gt;        5432/TCP   2d4h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0728655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 bIns="91440"/>
          <a:lstStyle/>
          <a:p>
            <a:pPr algn="ctr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PART 0 — FINAL DEMO  |  STEP 11</a:t>
            </a:r>
          </a:p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Helm — Package Management &amp; Releases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778240" y="640080"/>
            <a:ext cx="2468880" cy="594360"/>
          </a:xfrm>
          <a:prstGeom prst="roundRect">
            <a:avLst/>
          </a:prstGeom>
          <a:solidFill>
            <a:srgbClr val="0A0F1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Declarative Charts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Package Management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Chart Structure: </a:t>
            </a:r>
            <a:r>
              <a:rPr>
                <a:solidFill>
                  <a:srgbClr val="94A3B8"/>
                </a:solidFill>
              </a:rPr>
              <a:t>charts/taskboard/ (templates, values.yaml, Chart.yaml)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Parametrization: </a:t>
            </a:r>
            <a:r>
              <a:rPr>
                <a:solidFill>
                  <a:srgbClr val="94A3B8"/>
                </a:solidFill>
              </a:rPr>
              <a:t>Environment-specific values for dev, staging, prod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Release Name: </a:t>
            </a:r>
            <a:r>
              <a:rPr>
                <a:solidFill>
                  <a:srgbClr val="94A3B8"/>
                </a:solidFill>
              </a:rPr>
              <a:t>taskboard (deployed in namespace `taskboard`)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Revision History: </a:t>
            </a:r>
            <a:r>
              <a:rPr>
                <a:solidFill>
                  <a:srgbClr val="94A3B8"/>
                </a:solidFill>
              </a:rPr>
              <a:t>Revision 3 currently deployed, revisions 1-2 kept for instant rollback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Templating: </a:t>
            </a:r>
            <a:r>
              <a:rPr>
                <a:solidFill>
                  <a:srgbClr val="94A3B8"/>
                </a:solidFill>
              </a:rPr>
              <a:t>Dynamic Ingress hosts, replica counts, and resource limits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Lifecycle Hooks: </a:t>
            </a:r>
            <a:r>
              <a:rPr>
                <a:solidFill>
                  <a:srgbClr val="94A3B8"/>
                </a:solidFill>
              </a:rPr>
              <a:t>Pre-install &amp; pre-upgrade database migration Job hooks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645920"/>
            <a:ext cx="5394960" cy="4663440"/>
          </a:xfrm>
          <a:prstGeom prst="roundRect">
            <a:avLst/>
          </a:prstGeom>
          <a:solidFill>
            <a:srgbClr val="0A0F1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 bIns="164592"/>
          <a:lstStyle/>
          <a:p>
            <a:pPr algn="ctr">
              <a:defRPr sz="1100" b="1">
                <a:solidFill>
                  <a:srgbClr val="38BDF8"/>
                </a:solidFill>
                <a:latin typeface="Consolas"/>
              </a:defRPr>
            </a:pPr>
            <a:r>
              <a:t>●  ●  ●   terminal  —  helm-cli-session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 b="1">
                <a:solidFill>
                  <a:srgbClr val="10B981"/>
                </a:solidFill>
              </a:rPr>
              <a:t>$ </a:t>
            </a:r>
            <a:r>
              <a:rPr b="1">
                <a:solidFill>
                  <a:srgbClr val="F8FAFC"/>
                </a:solidFill>
              </a:rPr>
              <a:t>helm list -n taskboard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NAME       NAMESPACE  REVISION  UPDATED                   STATUS    CHART            APP VERSION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10B981"/>
                </a:solidFill>
              </a:rPr>
              <a:t>taskboard  taskboard  3         2026-10-26 18:15:32 IST   deployed  taskboard-1.2.0  1.2.0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/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 b="1">
                <a:solidFill>
                  <a:srgbClr val="10B981"/>
                </a:solidFill>
              </a:rPr>
              <a:t>$ </a:t>
            </a:r>
            <a:r>
              <a:rPr b="1">
                <a:solidFill>
                  <a:srgbClr val="F8FAFC"/>
                </a:solidFill>
              </a:rPr>
              <a:t>helm status taskboard -n taskboard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LAST DEPLOYED: Mon Oct 26 18:15:32 2026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NAMESPACE: taskboard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10B981"/>
                </a:solidFill>
              </a:rPr>
              <a:t>STATUS: deployed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REVISION: 3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TEST SUITE: None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NOTES: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1. Get the application URL: http://taskboard.devops.internal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2. Swagger API docs: http://taskboard.devops.internal/api/v1/docs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0728655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 bIns="91440"/>
          <a:lstStyle/>
          <a:p>
            <a:pPr algn="ctr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PART 0 — FINAL DEMO  |  STEP 12</a:t>
            </a:r>
          </a:p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Ingress — Application Access via Hostname Routing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778240" y="640080"/>
            <a:ext cx="2468880" cy="594360"/>
          </a:xfrm>
          <a:prstGeom prst="roundRect">
            <a:avLst/>
          </a:prstGeom>
          <a:solidFill>
            <a:srgbClr val="0A0F1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Edge Routing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Traffic Routing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Ingress Controller: </a:t>
            </a:r>
            <a:r>
              <a:rPr>
                <a:solidFill>
                  <a:srgbClr val="94A3B8"/>
                </a:solidFill>
              </a:rPr>
              <a:t>NGINX Ingress Controller / AWS ALB Ingress Controller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Hostname: </a:t>
            </a:r>
            <a:r>
              <a:rPr>
                <a:solidFill>
                  <a:srgbClr val="94A3B8"/>
                </a:solidFill>
              </a:rPr>
              <a:t>taskboard.devops.internal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Root Route (/): </a:t>
            </a:r>
            <a:r>
              <a:rPr>
                <a:solidFill>
                  <a:srgbClr val="94A3B8"/>
                </a:solidFill>
              </a:rPr>
              <a:t>Directs traffic to service 'taskboard-frontend:80'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API Route (/api): </a:t>
            </a:r>
            <a:r>
              <a:rPr>
                <a:solidFill>
                  <a:srgbClr val="94A3B8"/>
                </a:solidFill>
              </a:rPr>
              <a:t>Directs traffic to service 'taskboard-backend:8000'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Docs Route (/docs): </a:t>
            </a:r>
            <a:r>
              <a:rPr>
                <a:solidFill>
                  <a:srgbClr val="94A3B8"/>
                </a:solidFill>
              </a:rPr>
              <a:t>Directs Swagger traffic to backend documentation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TLS Termination: </a:t>
            </a:r>
            <a:r>
              <a:rPr>
                <a:solidFill>
                  <a:srgbClr val="94A3B8"/>
                </a:solidFill>
              </a:rPr>
              <a:t>Cert-Manager integration for automated SSL certificates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645920"/>
            <a:ext cx="5394960" cy="4663440"/>
          </a:xfrm>
          <a:prstGeom prst="roundRect">
            <a:avLst/>
          </a:prstGeom>
          <a:solidFill>
            <a:srgbClr val="0A0F1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 bIns="164592"/>
          <a:lstStyle/>
          <a:p>
            <a:pPr algn="ctr">
              <a:defRPr sz="1100" b="1">
                <a:solidFill>
                  <a:srgbClr val="38BDF8"/>
                </a:solidFill>
                <a:latin typeface="Consolas"/>
              </a:defRPr>
            </a:pPr>
            <a:r>
              <a:t>●  ●  ●   terminal  —  ingress-curl-verify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 b="1">
                <a:solidFill>
                  <a:srgbClr val="10B981"/>
                </a:solidFill>
              </a:rPr>
              <a:t>$ </a:t>
            </a:r>
            <a:r>
              <a:rPr b="1">
                <a:solidFill>
                  <a:srgbClr val="F8FAFC"/>
                </a:solidFill>
              </a:rPr>
              <a:t>kubectl get ingress -n taskboard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NAME               CLASS   HOSTS                      ADDRESS          PORTS   AGE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taskboard-ingress  nginx   taskboard.devops.internal  192.168.49.2     80, 443 42m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/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 b="1">
                <a:solidFill>
                  <a:srgbClr val="10B981"/>
                </a:solidFill>
              </a:rPr>
              <a:t>$ </a:t>
            </a:r>
            <a:r>
              <a:rPr b="1">
                <a:solidFill>
                  <a:srgbClr val="F8FAFC"/>
                </a:solidFill>
              </a:rPr>
              <a:t>curl -I http://taskboard.devops.internal/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10B981"/>
                </a:solidFill>
              </a:rPr>
              <a:t>HTTP/1.1 200 OK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Server: nginx/1.25.3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Content-Type: text/html; charset=UTF-8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/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 b="1">
                <a:solidFill>
                  <a:srgbClr val="10B981"/>
                </a:solidFill>
              </a:rPr>
              <a:t>$ </a:t>
            </a:r>
            <a:r>
              <a:rPr b="1">
                <a:solidFill>
                  <a:srgbClr val="F8FAFC"/>
                </a:solidFill>
              </a:rPr>
              <a:t>curl -I http://taskboard.devops.internal/api/v1/docs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10B981"/>
                </a:solidFill>
              </a:rPr>
              <a:t>HTTP/1.1 200 OK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Server: uvicorn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Content-Type: text/html; charset=utf-8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F59E0B"/>
                </a:solidFill>
              </a:rPr>
              <a:t># Host-based path routing verified working flawlessly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0728655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 bIns="91440"/>
          <a:lstStyle/>
          <a:p>
            <a:pPr algn="ctr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PART 0 — FINAL DEMO  |  STEP 13</a:t>
            </a:r>
          </a:p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HPA — Horizontal Pod Autoscaler in 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778240" y="640080"/>
            <a:ext cx="2468880" cy="594360"/>
          </a:xfrm>
          <a:prstGeom prst="roundRect">
            <a:avLst/>
          </a:prstGeom>
          <a:solidFill>
            <a:srgbClr val="0A0F1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Elastic Autoscaling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Autoscaling Policy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Resource Target: </a:t>
            </a:r>
            <a:r>
              <a:rPr>
                <a:solidFill>
                  <a:srgbClr val="94A3B8"/>
                </a:solidFill>
              </a:rPr>
              <a:t>Deployment/taskboard-backend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Metric Policy: </a:t>
            </a:r>
            <a:r>
              <a:rPr>
                <a:solidFill>
                  <a:srgbClr val="94A3B8"/>
                </a:solidFill>
              </a:rPr>
              <a:t>Target CPU utilization: 70% | Target Memory: 80%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Replica Bounds: </a:t>
            </a:r>
            <a:r>
              <a:rPr>
                <a:solidFill>
                  <a:srgbClr val="94A3B8"/>
                </a:solidFill>
              </a:rPr>
              <a:t>Min Replicas: 2 | Max Replicas: 10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Metrics Server: </a:t>
            </a:r>
            <a:r>
              <a:rPr>
                <a:solidFill>
                  <a:srgbClr val="94A3B8"/>
                </a:solidFill>
              </a:rPr>
              <a:t>Aggregates real-time pod metrics via Kubernetes Metrics API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Scaling Behavior: </a:t>
            </a:r>
            <a:r>
              <a:rPr>
                <a:solidFill>
                  <a:srgbClr val="94A3B8"/>
                </a:solidFill>
              </a:rPr>
              <a:t>Scale up: immediate (15s stabilization) | Scale down: 5m cooldown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Cost Efficiency: </a:t>
            </a:r>
            <a:r>
              <a:rPr>
                <a:solidFill>
                  <a:srgbClr val="94A3B8"/>
                </a:solidFill>
              </a:rPr>
              <a:t>Maintains optimal pod density and prevents cloud resource waste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645920"/>
            <a:ext cx="5394960" cy="4663440"/>
          </a:xfrm>
          <a:prstGeom prst="roundRect">
            <a:avLst/>
          </a:prstGeom>
          <a:solidFill>
            <a:srgbClr val="0A0F1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 bIns="164592"/>
          <a:lstStyle/>
          <a:p>
            <a:pPr algn="ctr">
              <a:defRPr sz="1100" b="1">
                <a:solidFill>
                  <a:srgbClr val="38BDF8"/>
                </a:solidFill>
                <a:latin typeface="Consolas"/>
              </a:defRPr>
            </a:pPr>
            <a:r>
              <a:t>●  ●  ●   terminal  —  hpa-metrics-watch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 b="1">
                <a:solidFill>
                  <a:srgbClr val="10B981"/>
                </a:solidFill>
              </a:rPr>
              <a:t>$ </a:t>
            </a:r>
            <a:r>
              <a:rPr b="1">
                <a:solidFill>
                  <a:srgbClr val="F8FAFC"/>
                </a:solidFill>
              </a:rPr>
              <a:t>kubectl get hpa -n taskboard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NAME                  REFERENCE                    TARGETS          MINPODS  MAXPODS  REPLICAS  AGE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taskboard-backend-hpa Deployment/taskboard-backend  cpu: 42%/70%     2        10       2         42m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/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F59E0B"/>
                </a:solidFill>
              </a:rPr>
              <a:t># Simulating Traffic Burst with Hey / ApacheBench: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 b="1">
                <a:solidFill>
                  <a:srgbClr val="10B981"/>
                </a:solidFill>
              </a:rPr>
              <a:t>$ </a:t>
            </a:r>
            <a:r>
              <a:rPr b="1">
                <a:solidFill>
                  <a:srgbClr val="F8FAFC"/>
                </a:solidFill>
              </a:rPr>
              <a:t>kubectl run -it --rm load-gen --image=busybox -n taskboard -- \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  while true; do wget -q -O- http://taskboard-backend:8000/api/v1/tasks; done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/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 b="1">
                <a:solidFill>
                  <a:srgbClr val="10B981"/>
                </a:solidFill>
              </a:rPr>
              <a:t>$ </a:t>
            </a:r>
            <a:r>
              <a:rPr b="1">
                <a:solidFill>
                  <a:srgbClr val="F8FAFC"/>
                </a:solidFill>
              </a:rPr>
              <a:t>kubectl get hpa -n taskboard --watch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taskboard-backend-hpa Deployment/taskboard-backend  cpu: 88%/70%     2        10       2         43m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taskboard-backend-hpa Deployment/taskboard-backend  cpu: 88%/70%     2        10       5         44m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F59E0B"/>
                </a:solidFill>
              </a:rPr>
              <a:t># HPA triggered scale-up from 2 to 5 replicas dynamically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0728655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 bIns="91440"/>
          <a:lstStyle/>
          <a:p>
            <a:pPr algn="ctr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PART 0 — FINAL DEMO  |  STEP 14</a:t>
            </a:r>
          </a:p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Monitoring — Prometheus Metrics &amp; Grafana Dashboards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778240" y="640080"/>
            <a:ext cx="2468880" cy="594360"/>
          </a:xfrm>
          <a:prstGeom prst="roundRect">
            <a:avLst/>
          </a:prstGeom>
          <a:solidFill>
            <a:srgbClr val="0A0F1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Observability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Observability Stack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Prometheus Scrape: </a:t>
            </a:r>
            <a:r>
              <a:rPr>
                <a:solidFill>
                  <a:srgbClr val="94A3B8"/>
                </a:solidFill>
              </a:rPr>
              <a:t>Scrapes `/metrics` on port 8000 every 15s via ServiceMonitor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Key Telemetry: </a:t>
            </a:r>
            <a:r>
              <a:rPr>
                <a:solidFill>
                  <a:srgbClr val="94A3B8"/>
                </a:solidFill>
              </a:rPr>
              <a:t>HTTP request rate (RPS), p95/p99 latency, error rate (4xx/5xx)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Grafana UI: </a:t>
            </a:r>
            <a:r>
              <a:rPr>
                <a:solidFill>
                  <a:srgbClr val="94A3B8"/>
                </a:solidFill>
              </a:rPr>
              <a:t>Interactive dashboards on port 3000 / Ingress `/grafana`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Node &amp; Pod Health: </a:t>
            </a:r>
            <a:r>
              <a:rPr>
                <a:solidFill>
                  <a:srgbClr val="94A3B8"/>
                </a:solidFill>
              </a:rPr>
              <a:t>CPU core usage, memory resident set size (RSS), network I/O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Alertmanager: </a:t>
            </a:r>
            <a:r>
              <a:rPr>
                <a:solidFill>
                  <a:srgbClr val="94A3B8"/>
                </a:solidFill>
              </a:rPr>
              <a:t>Rules for High Error Rate (&gt;2%) &amp; Pod CrashLoopBackOff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SLO / SLA: </a:t>
            </a:r>
            <a:r>
              <a:rPr>
                <a:solidFill>
                  <a:srgbClr val="94A3B8"/>
                </a:solidFill>
              </a:rPr>
              <a:t>Targeting 99.9% availability with &lt;50ms API response 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645920"/>
            <a:ext cx="5394960" cy="4663440"/>
          </a:xfrm>
          <a:prstGeom prst="roundRect">
            <a:avLst/>
          </a:prstGeom>
          <a:solidFill>
            <a:srgbClr val="0A0F1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 bIns="164592"/>
          <a:lstStyle/>
          <a:p>
            <a:pPr algn="ctr">
              <a:defRPr sz="1100" b="1">
                <a:solidFill>
                  <a:srgbClr val="38BDF8"/>
                </a:solidFill>
                <a:latin typeface="Consolas"/>
              </a:defRPr>
            </a:pPr>
            <a:r>
              <a:t>●  ●  ●   terminal  —  prometheus-grafana-telemetry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 b="1">
                <a:solidFill>
                  <a:srgbClr val="10B981"/>
                </a:solidFill>
              </a:rPr>
              <a:t>$ </a:t>
            </a:r>
            <a:r>
              <a:rPr b="1">
                <a:solidFill>
                  <a:srgbClr val="F8FAFC"/>
                </a:solidFill>
              </a:rPr>
              <a:t>curl -s http://taskboard-backend:8000/metrics | grep http_requests_total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F59E0B"/>
                </a:solidFill>
              </a:rPr>
              <a:t># HELP http_requests_total Total number of HTTP requests processed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F59E0B"/>
                </a:solidFill>
              </a:rPr>
              <a:t># TYPE http_requests_total counter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http_requests_total{method="GET",handler="/api/v1/tasks",status="200"} 1428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http_requests_total{method="POST",handler="/api/v1/tasks",status="201"} 219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/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F59E0B"/>
                </a:solidFill>
              </a:rPr>
              <a:t># Prometheus Target Verification: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 b="1">
                <a:solidFill>
                  <a:srgbClr val="10B981"/>
                </a:solidFill>
              </a:rPr>
              <a:t>$ </a:t>
            </a:r>
            <a:r>
              <a:rPr b="1">
                <a:solidFill>
                  <a:srgbClr val="F8FAFC"/>
                </a:solidFill>
              </a:rPr>
              <a:t>curl -s http://prometheus:9090/api/v1/targets | jq '.data.activeTargets[0].health'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"up"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/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F59E0B"/>
                </a:solidFill>
              </a:rPr>
              <a:t># Grafana Dashboard Status: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Dashboard: TaskBoard Production Performance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  Average RPS: 245 req/sec  |  p95 Latency: 32ms  |  Error Rate: 0.00%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  PostgreSQL Active Connections: 14/100  |  Cache Hit Ratio: 99.4%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0728655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 bIns="91440"/>
          <a:lstStyle/>
          <a:p>
            <a:pPr algn="ctr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PART 0 — FINAL DEMO  |  STEP 15</a:t>
            </a:r>
          </a:p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Failure Simulation &amp; Live Troubleshooting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778240" y="640080"/>
            <a:ext cx="2468880" cy="594360"/>
          </a:xfrm>
          <a:prstGeom prst="roundRect">
            <a:avLst/>
          </a:prstGeom>
          <a:solidFill>
            <a:srgbClr val="0A0F1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Chaos &amp; Self-Healing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Incident Simulation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Chaos Injection: </a:t>
            </a:r>
            <a:r>
              <a:rPr>
                <a:solidFill>
                  <a:srgbClr val="94A3B8"/>
                </a:solidFill>
              </a:rPr>
              <a:t>Deploying invalid image tag `backend:faulty-v99` to trigger pod failure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Symptom: </a:t>
            </a:r>
            <a:r>
              <a:rPr>
                <a:solidFill>
                  <a:srgbClr val="94A3B8"/>
                </a:solidFill>
              </a:rPr>
              <a:t>Kubernetes pod enters `ErrImagePull` -&gt; `ImagePullBackOff`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Live Triage: </a:t>
            </a:r>
            <a:r>
              <a:rPr>
                <a:solidFill>
                  <a:srgbClr val="94A3B8"/>
                </a:solidFill>
              </a:rPr>
              <a:t>Execute `kubectl describe pod` to extract root cause event logs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Remediation: </a:t>
            </a:r>
            <a:r>
              <a:rPr>
                <a:solidFill>
                  <a:srgbClr val="94A3B8"/>
                </a:solidFill>
              </a:rPr>
              <a:t>Execute `kubectl rollout undo deployment/taskboard-backend`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Result: </a:t>
            </a:r>
            <a:r>
              <a:rPr>
                <a:solidFill>
                  <a:srgbClr val="94A3B8"/>
                </a:solidFill>
              </a:rPr>
              <a:t>Cluster immediately rolls back to revision 2, healthy pods restore traffic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Resilience: </a:t>
            </a:r>
            <a:r>
              <a:rPr>
                <a:solidFill>
                  <a:srgbClr val="94A3B8"/>
                </a:solidFill>
              </a:rPr>
              <a:t>Zero downtime for existing traffic due to rolling update strategy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645920"/>
            <a:ext cx="5394960" cy="4663440"/>
          </a:xfrm>
          <a:prstGeom prst="roundRect">
            <a:avLst/>
          </a:prstGeom>
          <a:solidFill>
            <a:srgbClr val="0A0F1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 bIns="164592"/>
          <a:lstStyle/>
          <a:p>
            <a:pPr algn="ctr">
              <a:defRPr sz="1100" b="1">
                <a:solidFill>
                  <a:srgbClr val="38BDF8"/>
                </a:solidFill>
                <a:latin typeface="Consolas"/>
              </a:defRPr>
            </a:pPr>
            <a:r>
              <a:t>●  ●  ●   terminal  —  troubleshooting-session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 b="1">
                <a:solidFill>
                  <a:srgbClr val="10B981"/>
                </a:solidFill>
              </a:rPr>
              <a:t>$ </a:t>
            </a:r>
            <a:r>
              <a:rPr b="1">
                <a:solidFill>
                  <a:srgbClr val="F8FAFC"/>
                </a:solidFill>
              </a:rPr>
              <a:t># 1. INJECT FAILURE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 b="1">
                <a:solidFill>
                  <a:srgbClr val="10B981"/>
                </a:solidFill>
              </a:rPr>
              <a:t>$ </a:t>
            </a:r>
            <a:r>
              <a:rPr b="1">
                <a:solidFill>
                  <a:srgbClr val="F8FAFC"/>
                </a:solidFill>
              </a:rPr>
              <a:t>kubectl set image deployment/taskboard-backend backend=ghcr.io/taskboard/backend:broken-v99 -n taskboard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 b="1">
                <a:solidFill>
                  <a:srgbClr val="10B981"/>
                </a:solidFill>
              </a:rPr>
              <a:t>$ </a:t>
            </a:r>
            <a:r>
              <a:rPr b="1">
                <a:solidFill>
                  <a:srgbClr val="F8FAFC"/>
                </a:solidFill>
              </a:rPr>
              <a:t>kubectl get pods -n taskboard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F43F5E"/>
                </a:solidFill>
              </a:rPr>
              <a:t>taskboard-backend-67df98fbc-z8x2q   0/1   ImagePullBackOff   0   35s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/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 b="1">
                <a:solidFill>
                  <a:srgbClr val="10B981"/>
                </a:solidFill>
              </a:rPr>
              <a:t>$ </a:t>
            </a:r>
            <a:r>
              <a:rPr b="1">
                <a:solidFill>
                  <a:srgbClr val="F8FAFC"/>
                </a:solidFill>
              </a:rPr>
              <a:t># 2. LIVE TROUBLESHOOTING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 b="1">
                <a:solidFill>
                  <a:srgbClr val="10B981"/>
                </a:solidFill>
              </a:rPr>
              <a:t>$ </a:t>
            </a:r>
            <a:r>
              <a:rPr b="1">
                <a:solidFill>
                  <a:srgbClr val="F8FAFC"/>
                </a:solidFill>
              </a:rPr>
              <a:t>kubectl describe pod taskboard-backend-67df98fbc-z8x2q -n taskboard | grep -A 2 Events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Events: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  Warning  Failed     Failed to pull image: manifest unknown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F43F5E"/>
                </a:solidFill>
              </a:rPr>
              <a:t>  Warning  Failed     Error: ImagePullBackOff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/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 b="1">
                <a:solidFill>
                  <a:srgbClr val="10B981"/>
                </a:solidFill>
              </a:rPr>
              <a:t>$ </a:t>
            </a:r>
            <a:r>
              <a:rPr b="1">
                <a:solidFill>
                  <a:srgbClr val="F8FAFC"/>
                </a:solidFill>
              </a:rPr>
              <a:t># 3. LIVE REMEDIATION (ROLLOUT UNDO)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 b="1">
                <a:solidFill>
                  <a:srgbClr val="10B981"/>
                </a:solidFill>
              </a:rPr>
              <a:t>$ </a:t>
            </a:r>
            <a:r>
              <a:rPr b="1">
                <a:solidFill>
                  <a:srgbClr val="F8FAFC"/>
                </a:solidFill>
              </a:rPr>
              <a:t>kubectl rollout undo deployment/taskboard-backend -n taskboard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deployment.apps/taskboard-backend rolled back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 b="1">
                <a:solidFill>
                  <a:srgbClr val="10B981"/>
                </a:solidFill>
              </a:rPr>
              <a:t>$ </a:t>
            </a:r>
            <a:r>
              <a:rPr b="1">
                <a:solidFill>
                  <a:srgbClr val="F8FAFC"/>
                </a:solidFill>
              </a:rPr>
              <a:t>kubectl get pods -n taskboard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10B981"/>
                </a:solidFill>
              </a:rPr>
              <a:t>taskboard-backend-78d4c6b75f-2x89k   1/1   Running   0   48m</a:t>
            </a:r>
          </a:p>
          <a:p>
            <a:pPr>
              <a:spcBef>
                <a:spcPts val="400"/>
              </a:spcBef>
              <a:defRPr sz="1050">
                <a:latin typeface="Consolas"/>
              </a:defRPr>
            </a:pPr>
            <a:r>
              <a:rPr>
                <a:solidFill>
                  <a:srgbClr val="F59E0B"/>
                </a:solidFill>
              </a:rPr>
              <a:t># Restored to healthy state with 100% service availability!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0728655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 bIns="91440"/>
          <a:lstStyle/>
          <a:p>
            <a:pPr algn="ctr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PART 0 — FINAL DEMO  |  STEP SUMMARY</a:t>
            </a:r>
          </a:p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DevOps Capstone Production Sign-Off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778240" y="640080"/>
            <a:ext cx="2468880" cy="594360"/>
          </a:xfrm>
          <a:prstGeom prst="roundRect">
            <a:avLst/>
          </a:prstGeom>
          <a:solidFill>
            <a:srgbClr val="0A0F1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Final Verdict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500" b="1">
                <a:solidFill>
                  <a:srgbClr val="06B6D4"/>
                </a:solidFill>
                <a:latin typeface="Segoe UI"/>
              </a:defRPr>
            </a:pPr>
            <a:r>
              <a:t>Core Capabilities Verified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Application &amp; API: </a:t>
            </a:r>
            <a:r>
              <a:rPr>
                <a:solidFill>
                  <a:srgbClr val="94A3B8"/>
                </a:solidFill>
              </a:rPr>
              <a:t>FastAPI + PostgreSQL with fully tested CRUD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CI/CD Automation: </a:t>
            </a:r>
            <a:r>
              <a:rPr>
                <a:solidFill>
                  <a:srgbClr val="94A3B8"/>
                </a:solidFill>
              </a:rPr>
              <a:t>GitHub Actions pipeline with automated test matrix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Container Security: </a:t>
            </a:r>
            <a:r>
              <a:rPr>
                <a:solidFill>
                  <a:srgbClr val="94A3B8"/>
                </a:solidFill>
              </a:rPr>
              <a:t>Trivy vulnerability scanning with 0 critical CVEs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Cloud Infrastructure: </a:t>
            </a:r>
            <a:r>
              <a:rPr>
                <a:solidFill>
                  <a:srgbClr val="94A3B8"/>
                </a:solidFill>
              </a:rPr>
              <a:t>Terraform AWS EKS, VPC, and RDS modules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500" b="1">
                <a:solidFill>
                  <a:srgbClr val="10B981"/>
                </a:solidFill>
                <a:latin typeface="Segoe UI"/>
              </a:defRPr>
            </a:pPr>
            <a:r>
              <a:t>Production Readiness Standards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Kubernetes &amp; Helm: </a:t>
            </a:r>
            <a:r>
              <a:rPr>
                <a:solidFill>
                  <a:srgbClr val="94A3B8"/>
                </a:solidFill>
              </a:rPr>
              <a:t>Declarative deployments with Helm charts &amp; revisions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Edge Routing: </a:t>
            </a:r>
            <a:r>
              <a:rPr>
                <a:solidFill>
                  <a:srgbClr val="94A3B8"/>
                </a:solidFill>
              </a:rPr>
              <a:t>Ingress Controller with host-based SSL routing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Autoscaling (HPA): </a:t>
            </a:r>
            <a:r>
              <a:rPr>
                <a:solidFill>
                  <a:srgbClr val="94A3B8"/>
                </a:solidFill>
              </a:rPr>
              <a:t>Dynamic CPU &amp; memory workload autoscaling</a:t>
            </a:r>
          </a:p>
          <a:p>
            <a:pPr>
              <a:spcBef>
                <a:spcPts val="800"/>
              </a:spcBef>
              <a:defRPr sz="12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Resilience &amp; Monitoring: </a:t>
            </a:r>
            <a:r>
              <a:rPr>
                <a:solidFill>
                  <a:srgbClr val="94A3B8"/>
                </a:solidFill>
              </a:rPr>
              <a:t>Prometheus/Grafana + instant rollback verified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